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rts/chart1.xml" ContentType="application/vnd.openxmlformats-officedocument.drawingml.chart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Win Rate (%)</c:v>
                </c:pt>
              </c:strCache>
            </c:strRef>
          </c:tx>
          <c:spPr>
            <a:solidFill>
              <a:srgbClr val="10B981">
                <a:alpha val="95000"/>
              </a:srgbClr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10B98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0696-41D7-A2A6-7424B83E0A91}"/>
              </c:ext>
            </c:extLst>
          </c:dPt>
          <c:dPt>
            <c:idx val="1"/>
            <c:invertIfNegative val="0"/>
            <c:bubble3D val="0"/>
            <c:spPr>
              <a:solidFill>
                <a:srgbClr val="F59E0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0696-41D7-A2A6-7424B83E0A91}"/>
              </c:ext>
            </c:extLst>
          </c:dPt>
          <c:dPt>
            <c:idx val="2"/>
            <c:invertIfNegative val="0"/>
            <c:bubble3D val="0"/>
            <c:spPr>
              <a:solidFill>
                <a:srgbClr val="6366F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0696-41D7-A2A6-7424B83E0A91}"/>
              </c:ext>
            </c:extLst>
          </c:dPt>
          <c:dLbls>
            <c:numFmt formatCode="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HH-RLHF</c:v>
                </c:pt>
                <c:pt idx="1">
                  <c:v>LMSYS</c:v>
                </c:pt>
                <c:pt idx="2">
                  <c:v>Combined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68</c:v>
                </c:pt>
                <c:pt idx="1">
                  <c:v>64</c:v>
                </c:pt>
                <c:pt idx="2">
                  <c:v>66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0696-41D7-A2A6-7424B83E0A91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E293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637139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iit_hea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91440"/>
            <a:ext cx="8869680" cy="7315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0515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Modeling + Direct Preference Optimization</a:t>
            </a:r>
            <a:endParaRPr lang="en-US" sz="2800" dirty="0"/>
          </a:p>
        </p:txBody>
      </p:sp>
      <p:sp>
        <p:nvSpPr>
          <p:cNvPr id="4" name="Text 1"/>
          <p:cNvSpPr/>
          <p:nvPr/>
        </p:nvSpPr>
        <p:spPr>
          <a:xfrm>
            <a:off x="457200" y="1554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Cross-Distribution RLHF on Combined HH-RLHF + LMSYS Arena Data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457200" y="1828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DeBERTa-v3  •  TinyLlama-1.1B  •  LoRA  •  DPO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2286000" y="2240280"/>
            <a:ext cx="4572000" cy="0"/>
          </a:xfrm>
          <a:prstGeom prst="line">
            <a:avLst/>
          </a:prstGeom>
          <a:noFill/>
          <a:ln w="25400">
            <a:solidFill>
              <a:srgbClr val="F5A62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2651760"/>
            <a:ext cx="2560320" cy="77724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" y="26974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Pratik D. Avhad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48640" y="294436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UI23CS54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48640" y="315468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ui23cs54@iiitsurat.ac.in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3291840" y="2651760"/>
            <a:ext cx="2560320" cy="77724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291840" y="26974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Sahil Singh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3291840" y="294436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UI23CS59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3291840" y="315468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ui23cs59@iiitsurat.ac.in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6035040" y="2651760"/>
            <a:ext cx="2560320" cy="77724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035040" y="26974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Aviral Pandey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6035040" y="294436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UI23CS09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035040" y="315468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ui23cs09@iiitsurat.ac.in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1828800" y="3657600"/>
            <a:ext cx="54864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7200" y="37307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Computer Science &amp; Engineering   |   IIIT Surat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457200" y="4023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guidance of  Prof. [Dr. Nidhi Desai]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0" y="4617720"/>
            <a:ext cx="9144000" cy="525780"/>
          </a:xfrm>
          <a:prstGeom prst="rect">
            <a:avLst/>
          </a:prstGeom>
          <a:solidFill>
            <a:srgbClr val="0F1E45"/>
          </a:solidFill>
          <a:ln w="12700">
            <a:solidFill>
              <a:srgbClr val="0F1E45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0" y="4617720"/>
            <a:ext cx="9144000" cy="5257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 Institute of Information Technology Surat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iit_hea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45720"/>
            <a:ext cx="8869680" cy="66751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713232"/>
            <a:ext cx="73152" cy="41605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274320" y="4892040"/>
            <a:ext cx="859536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274320" y="49377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RLHF: Reward Modeling + DPO</a:t>
            </a: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858000" y="493776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 / 16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274320" y="77724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Outline of Presentation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457200" y="1344168"/>
            <a:ext cx="292608" cy="292608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13441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41248" y="132588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841248" y="1563624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Why alignment of language models matters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" y="1837944"/>
            <a:ext cx="292608" cy="292608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57200" y="18379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41248" y="18196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Survey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41248" y="205740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InstructGPT, DPO, LoRA, preference datasets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457200" y="2331720"/>
            <a:ext cx="292608" cy="292608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57200" y="23317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841248" y="231343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841248" y="2551176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Single-dataset RM overfit failure mode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57200" y="2825496"/>
            <a:ext cx="292608" cy="292608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7200" y="28254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841248" y="280720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System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841248" y="3044952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Pipeline architecture + project flowchart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457200" y="3319272"/>
            <a:ext cx="292608" cy="292608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57200" y="3319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841248" y="330098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&amp; Software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841248" y="3538728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Free Kaggle T4×2, HuggingFace, TRL, PEFT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457200" y="3813048"/>
            <a:ext cx="292608" cy="292608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57200" y="38130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841248" y="379476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Construction</a:t>
            </a:r>
            <a:endParaRPr lang="en-US" sz="1250" dirty="0"/>
          </a:p>
        </p:txBody>
      </p:sp>
      <p:sp>
        <p:nvSpPr>
          <p:cNvPr id="31" name="Text 28"/>
          <p:cNvSpPr/>
          <p:nvPr/>
        </p:nvSpPr>
        <p:spPr>
          <a:xfrm>
            <a:off x="841248" y="4032504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HH-RLHF + LMSYS → 4 000 balanced pairs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4754880" y="1344168"/>
            <a:ext cx="292608" cy="292608"/>
          </a:xfrm>
          <a:prstGeom prst="ellipse">
            <a:avLst/>
          </a:prstGeom>
          <a:solidFill>
            <a:srgbClr val="0F1E45"/>
          </a:solidFill>
          <a:ln w="12700">
            <a:solidFill>
              <a:srgbClr val="0F1E45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754880" y="13441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5138928" y="132588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Model</a:t>
            </a:r>
            <a:endParaRPr lang="en-US" sz="1250" dirty="0"/>
          </a:p>
        </p:txBody>
      </p:sp>
      <p:sp>
        <p:nvSpPr>
          <p:cNvPr id="35" name="Text 32"/>
          <p:cNvSpPr/>
          <p:nvPr/>
        </p:nvSpPr>
        <p:spPr>
          <a:xfrm>
            <a:off x="5138928" y="1563624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DeBERTa-v3-base + LoRA, Bradley-Terry loss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4754880" y="1837944"/>
            <a:ext cx="292608" cy="292608"/>
          </a:xfrm>
          <a:prstGeom prst="ellipse">
            <a:avLst/>
          </a:prstGeom>
          <a:solidFill>
            <a:srgbClr val="0F1E45"/>
          </a:solidFill>
          <a:ln w="12700">
            <a:solidFill>
              <a:srgbClr val="0F1E45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4754880" y="18379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5138928" y="18196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DPO Fine-Tuning</a:t>
            </a:r>
            <a:endParaRPr lang="en-US" sz="1250" dirty="0"/>
          </a:p>
        </p:txBody>
      </p:sp>
      <p:sp>
        <p:nvSpPr>
          <p:cNvPr id="39" name="Text 36"/>
          <p:cNvSpPr/>
          <p:nvPr/>
        </p:nvSpPr>
        <p:spPr>
          <a:xfrm>
            <a:off x="5138928" y="205740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TinyLlama-1.1B + 4-bit NF4 + LoRA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4754880" y="2331720"/>
            <a:ext cx="292608" cy="292608"/>
          </a:xfrm>
          <a:prstGeom prst="ellipse">
            <a:avLst/>
          </a:prstGeom>
          <a:solidFill>
            <a:srgbClr val="0F1E45"/>
          </a:solidFill>
          <a:ln w="12700">
            <a:solidFill>
              <a:srgbClr val="0F1E45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4754880" y="23317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42" name="Text 39"/>
          <p:cNvSpPr/>
          <p:nvPr/>
        </p:nvSpPr>
        <p:spPr>
          <a:xfrm>
            <a:off x="5138928" y="231343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Status</a:t>
            </a:r>
            <a:endParaRPr lang="en-US" sz="1250" dirty="0"/>
          </a:p>
        </p:txBody>
      </p:sp>
      <p:sp>
        <p:nvSpPr>
          <p:cNvPr id="43" name="Text 40"/>
          <p:cNvSpPr/>
          <p:nvPr/>
        </p:nvSpPr>
        <p:spPr>
          <a:xfrm>
            <a:off x="5138928" y="2551176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End-to-end pipeline complete</a:t>
            </a:r>
            <a:endParaRPr lang="en-US" sz="1000" dirty="0"/>
          </a:p>
        </p:txBody>
      </p:sp>
      <p:sp>
        <p:nvSpPr>
          <p:cNvPr id="44" name="Shape 41"/>
          <p:cNvSpPr/>
          <p:nvPr/>
        </p:nvSpPr>
        <p:spPr>
          <a:xfrm>
            <a:off x="4754880" y="2825496"/>
            <a:ext cx="292608" cy="292608"/>
          </a:xfrm>
          <a:prstGeom prst="ellipse">
            <a:avLst/>
          </a:prstGeom>
          <a:solidFill>
            <a:srgbClr val="0F1E45"/>
          </a:solidFill>
          <a:ln w="12700">
            <a:solidFill>
              <a:srgbClr val="0F1E45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4754880" y="28254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5138928" y="280720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250" dirty="0"/>
          </a:p>
        </p:txBody>
      </p:sp>
      <p:sp>
        <p:nvSpPr>
          <p:cNvPr id="47" name="Text 44"/>
          <p:cNvSpPr/>
          <p:nvPr/>
        </p:nvSpPr>
        <p:spPr>
          <a:xfrm>
            <a:off x="5138928" y="3044952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RM 68.2% % acc.  •  DPO 60.1 % win-rate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4754880" y="3319272"/>
            <a:ext cx="292608" cy="292608"/>
          </a:xfrm>
          <a:prstGeom prst="ellipse">
            <a:avLst/>
          </a:prstGeom>
          <a:solidFill>
            <a:srgbClr val="0F1E45"/>
          </a:solidFill>
          <a:ln w="12700">
            <a:solidFill>
              <a:srgbClr val="0F1E45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4754880" y="3319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50" name="Text 47"/>
          <p:cNvSpPr/>
          <p:nvPr/>
        </p:nvSpPr>
        <p:spPr>
          <a:xfrm>
            <a:off x="5138928" y="330098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Advantages &amp; Applications</a:t>
            </a:r>
            <a:endParaRPr lang="en-US" sz="1250" dirty="0"/>
          </a:p>
        </p:txBody>
      </p:sp>
      <p:sp>
        <p:nvSpPr>
          <p:cNvPr id="51" name="Text 48"/>
          <p:cNvSpPr/>
          <p:nvPr/>
        </p:nvSpPr>
        <p:spPr>
          <a:xfrm>
            <a:off x="5138928" y="3538728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Why this approach is useful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4754880" y="3813048"/>
            <a:ext cx="292608" cy="292608"/>
          </a:xfrm>
          <a:prstGeom prst="ellipse">
            <a:avLst/>
          </a:prstGeom>
          <a:solidFill>
            <a:srgbClr val="0F1E45"/>
          </a:solidFill>
          <a:ln w="12700">
            <a:solidFill>
              <a:srgbClr val="0F1E45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4754880" y="38130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54" name="Text 51"/>
          <p:cNvSpPr/>
          <p:nvPr/>
        </p:nvSpPr>
        <p:spPr>
          <a:xfrm>
            <a:off x="5138928" y="379476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Scope</a:t>
            </a:r>
            <a:endParaRPr lang="en-US" sz="1250" dirty="0"/>
          </a:p>
        </p:txBody>
      </p:sp>
      <p:sp>
        <p:nvSpPr>
          <p:cNvPr id="55" name="Text 52"/>
          <p:cNvSpPr/>
          <p:nvPr/>
        </p:nvSpPr>
        <p:spPr>
          <a:xfrm>
            <a:off x="5138928" y="4032504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SFT stage, scale-up, ensemble RMs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iit_hea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45719"/>
            <a:ext cx="8869680" cy="676653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713232"/>
            <a:ext cx="73152" cy="41605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274320" y="4892040"/>
            <a:ext cx="859536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274320" y="49377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RLHF: Reward Modeling + DPO</a:t>
            </a: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858000" y="493776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2 / 16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274320" y="77724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274320" y="114300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Reinforcement Learning from Human Feedback?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274320" y="1554480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RLHF aligns large language models with human preferences. The standard pipeline is three stages: (1) pre-training, (2) Reward Model trained on pairwise human comparisons, and (3) policy fine-tuning. This project implements stages 2 and 3 end-to-end on free GPU hardware using a novel combination of expert-annotated and crowd-sourced preference data.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274320" y="288739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274320" y="3154680"/>
            <a:ext cx="5120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▸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LMs predict tokens — they don't know what humans prefer.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▸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projects use a single preference dataset and overfit it.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▸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Per-source evaluation exposes RM generalization failures.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▸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 free Kaggle T4 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577840" y="1481326"/>
            <a:ext cx="3291840" cy="3319273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577840" y="1481327"/>
            <a:ext cx="3291840" cy="429768"/>
          </a:xfrm>
          <a:prstGeom prst="rect">
            <a:avLst/>
          </a:prstGeom>
          <a:solidFill>
            <a:srgbClr val="0F1E45"/>
          </a:solidFill>
          <a:ln w="12700">
            <a:solidFill>
              <a:srgbClr val="0F1E4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577840" y="1527046"/>
            <a:ext cx="3291840" cy="3931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at a Glance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715000" y="2176272"/>
            <a:ext cx="201168" cy="201168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989320" y="210312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989320" y="230428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HH-RLHF + LMSYS → 4 000 pairs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715000" y="2679192"/>
            <a:ext cx="201168" cy="201168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89320" y="260604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RM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5989320" y="28072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DeBERTa-v3 + LoRA, BT-loss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5715000" y="3182112"/>
            <a:ext cx="201168" cy="201168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989320" y="310896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5989320" y="33101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Per-source pairwise accuracy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715000" y="3685032"/>
            <a:ext cx="201168" cy="201168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989320" y="361188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 DPO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5989320" y="381304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TinyLlama-1.1B + 4-bit + LoRA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715000" y="4187952"/>
            <a:ext cx="201168" cy="201168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989320" y="411480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Win-Rate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5989320" y="431596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held-out prompts, RM judge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iit_hea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45720"/>
            <a:ext cx="8869680" cy="6400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713232"/>
            <a:ext cx="73152" cy="41605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274320" y="4892040"/>
            <a:ext cx="859536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274320" y="49377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RLHF: Reward Modeling + DPO</a:t>
            </a: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858000" y="493776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3 / 16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274320" y="77724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Survey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274320" y="1150034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of related research and methods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8674675"/>
              </p:ext>
            </p:extLst>
          </p:nvPr>
        </p:nvGraphicFramePr>
        <p:xfrm>
          <a:off x="274320" y="1554480"/>
          <a:ext cx="8595360" cy="329184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 / Year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Approach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Contribution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Ouyang et al., 2022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InstructGPT (PPO)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Three-stage RLHF pipeline at scale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Requires 4 models in memory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Rafailov et al., 2023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DPO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Closed-form RLHF; no RL loop (NeurIPS Best Paper)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Sensitive to reference-model drift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 et al., 2022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 ~0.4 % of parameters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Rank choice is task-specific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Dettmers et al., 2023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QLoRA (4-bit NF4)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Fine-tune billion-param LLMs on a single GPU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Slight quality vs. fp16 trade-off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 et al., 2022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HH-RLHF dataset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Expert helpfulness + harmlessness pairs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labeling regime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Chiang et al., 2024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LMSYS Chatbot Arena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 K crowd-sourced votes; diverse prompts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Noisy labels, ~30 % ties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Proposed, 2025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Combined HH + LMSYS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Cross-distribution RM with per-source eval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iit_hea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45720"/>
            <a:ext cx="8869680" cy="6400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713232"/>
            <a:ext cx="73152" cy="41605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274320" y="4892040"/>
            <a:ext cx="859536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274320" y="49377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RLHF: Reward Modeling + DPO</a:t>
            </a: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858000" y="493776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4 / 16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274320" y="77724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274320" y="114300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our project aims to fill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57200" y="1554480"/>
            <a:ext cx="8229600" cy="1051560"/>
          </a:xfrm>
          <a:prstGeom prst="rect">
            <a:avLst/>
          </a:prstGeom>
          <a:solidFill>
            <a:srgbClr val="FFF8E1"/>
          </a:solidFill>
          <a:ln w="15875">
            <a:solidFill>
              <a:srgbClr val="F5A62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48640" y="1641348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Large Language Models (LLMs) are commonly aligned using human preference learning techniques such as Reward Modeling and RLHF. However, during preference training, reward models often develop self-preference bias, where the system begins favoring responses that resemble the style, structure, or distribution of its own training data rather than objectively evaluating response quality.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274320" y="278892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Challenges Addressed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274320" y="3108960"/>
            <a:ext cx="4069080" cy="77724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11480" y="3300984"/>
            <a:ext cx="384048" cy="384048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11480" y="3300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914400" y="318211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Reduced fairness and generalization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914400" y="345643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Misalignment between actual response quality and assigned reward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526280" y="3108960"/>
            <a:ext cx="4069080" cy="77724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663440" y="3300984"/>
            <a:ext cx="384048" cy="384048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663440" y="3300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5166360" y="318211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Label-Regime</a:t>
            </a: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Mismatch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5166360" y="345643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 vs. crowd votes have different bias profiles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274320" y="4023360"/>
            <a:ext cx="4069080" cy="77724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11480" y="4215384"/>
            <a:ext cx="384048" cy="384048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11480" y="42153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914400" y="409651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verbose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914400" y="437083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Preference toward verbose or stylistically similar outputs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526280" y="4023360"/>
            <a:ext cx="4069080" cy="77724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663440" y="4215384"/>
            <a:ext cx="384048" cy="384048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663440" y="42153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5166360" y="409651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Evaluation</a:t>
            </a:r>
            <a:endParaRPr lang="en-US" sz="1400" dirty="0"/>
          </a:p>
        </p:txBody>
      </p:sp>
      <p:sp>
        <p:nvSpPr>
          <p:cNvPr id="31" name="Text 28"/>
          <p:cNvSpPr/>
          <p:nvPr/>
        </p:nvSpPr>
        <p:spPr>
          <a:xfrm>
            <a:off x="5166360" y="437083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per-source metrics, not just an averaged headline number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iit_hea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45720"/>
            <a:ext cx="8869680" cy="6400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713232"/>
            <a:ext cx="73152" cy="41605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274320" y="4892040"/>
            <a:ext cx="859536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274320" y="49377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RLHF: Reward Modeling + DPO</a:t>
            </a: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858000" y="493776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5 / 16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274320" y="77724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System / Architecture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274320" y="114300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RLHF pipeline (Stage 1 → Stage 4)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4340" y="1554480"/>
            <a:ext cx="1965960" cy="77724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34340" y="1627632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34340" y="1938528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Dataset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2400300" y="1554480"/>
            <a:ext cx="137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537460" y="1554480"/>
            <a:ext cx="1965960" cy="7772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537460" y="1627632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2537460" y="1938528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Model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4503420" y="1554480"/>
            <a:ext cx="137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4640580" y="1531620"/>
            <a:ext cx="1965960" cy="7772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640580" y="1627632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640580" y="1938528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DPO Fine-Tuning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606540" y="1554480"/>
            <a:ext cx="137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743700" y="1554480"/>
            <a:ext cx="1965960" cy="777240"/>
          </a:xfrm>
          <a:prstGeom prst="rect">
            <a:avLst/>
          </a:prstGeom>
          <a:solidFill>
            <a:srgbClr val="0F1E45"/>
          </a:solidFill>
          <a:ln w="12700">
            <a:solidFill>
              <a:srgbClr val="0F1E45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743700" y="1627632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4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743700" y="1938528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Cross-Source Eval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274320" y="25146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Description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4663440" y="25146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each design choice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74320" y="2880360"/>
            <a:ext cx="164592" cy="16459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30352" y="2816352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Dataset: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530352" y="303580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HH-RLHF (expert) + LMSYS (crowd) → 4 000 pairs, 50/50 mix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274320" y="3383280"/>
            <a:ext cx="164592" cy="16459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30352" y="3319272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Model: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530352" y="353872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DeBERTa-v3-base + LoRA (r=32), Bradley-Terry pairwise loss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274320" y="3886200"/>
            <a:ext cx="164592" cy="16459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30352" y="3822192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DPO Policy: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530352" y="404164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TinyLlama-1.1B-Chat, 4-bit NF4, LoRA (r=16), β=0.1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274320" y="4389120"/>
            <a:ext cx="164592" cy="16459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530352" y="4325112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Cross-Source Eval: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530352" y="454456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Per-source pairwise acc.; 50 held-out prompts (25 + 25)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4663440" y="2880360"/>
            <a:ext cx="164592" cy="164592"/>
          </a:xfrm>
          <a:prstGeom prst="ellipse">
            <a:avLst/>
          </a:prstGeom>
          <a:solidFill>
            <a:srgbClr val="0F1E45"/>
          </a:solidFill>
          <a:ln w="12700">
            <a:solidFill>
              <a:srgbClr val="0F1E45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4919472" y="2816352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data:</a:t>
            </a:r>
            <a:endParaRPr lang="en-US" sz="1200" dirty="0"/>
          </a:p>
        </p:txBody>
      </p:sp>
      <p:sp>
        <p:nvSpPr>
          <p:cNvPr id="40" name="Text 37"/>
          <p:cNvSpPr/>
          <p:nvPr/>
        </p:nvSpPr>
        <p:spPr>
          <a:xfrm>
            <a:off x="4919472" y="303580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Prevents memorization of any one labeling regime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4663440" y="3383280"/>
            <a:ext cx="164592" cy="164592"/>
          </a:xfrm>
          <a:prstGeom prst="ellipse">
            <a:avLst/>
          </a:prstGeom>
          <a:solidFill>
            <a:srgbClr val="0F1E45"/>
          </a:solidFill>
          <a:ln w="12700">
            <a:solidFill>
              <a:srgbClr val="0F1E45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4919472" y="3319272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DeBERTa-v3:</a:t>
            </a:r>
            <a:endParaRPr lang="en-US" sz="1200" dirty="0"/>
          </a:p>
        </p:txBody>
      </p:sp>
      <p:sp>
        <p:nvSpPr>
          <p:cNvPr id="43" name="Text 40"/>
          <p:cNvSpPr/>
          <p:nvPr/>
        </p:nvSpPr>
        <p:spPr>
          <a:xfrm>
            <a:off x="4919472" y="353872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Bidirectional attention is best for scoring full sequences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4663440" y="3886200"/>
            <a:ext cx="164592" cy="164592"/>
          </a:xfrm>
          <a:prstGeom prst="ellipse">
            <a:avLst/>
          </a:prstGeom>
          <a:solidFill>
            <a:srgbClr val="0F1E45"/>
          </a:solidFill>
          <a:ln w="12700">
            <a:solidFill>
              <a:srgbClr val="0F1E45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4919472" y="3822192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4-bit + LoRA: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4919472" y="404164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Trains 0.4 % of parameters; fits 1.1 B model in a T4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4663440" y="4389120"/>
            <a:ext cx="164592" cy="164592"/>
          </a:xfrm>
          <a:prstGeom prst="ellipse">
            <a:avLst/>
          </a:prstGeom>
          <a:solidFill>
            <a:srgbClr val="0F1E45"/>
          </a:solidFill>
          <a:ln w="12700">
            <a:solidFill>
              <a:srgbClr val="0F1E45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4919472" y="4325112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DPO over PPO: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4919472" y="454456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models in memory vs. 4; closed-form loss, no RL instability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56270"/>
            <a:ext cx="73152" cy="4817482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274320" y="4892040"/>
            <a:ext cx="859536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274320" y="4915357"/>
            <a:ext cx="5486400" cy="2510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RLHF: Reward Modeling + DPO</a:t>
            </a: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858000" y="4915357"/>
            <a:ext cx="2011680" cy="2510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6 / 16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274320" y="56271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Flowchart</a:t>
            </a:r>
            <a:endParaRPr lang="en-US" sz="200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E11EE09-051A-B0DD-CF9C-BE922479BEF1}"/>
              </a:ext>
            </a:extLst>
          </p:cNvPr>
          <p:cNvSpPr/>
          <p:nvPr/>
        </p:nvSpPr>
        <p:spPr>
          <a:xfrm>
            <a:off x="6745458" y="2236763"/>
            <a:ext cx="2053884" cy="6471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3A848A1-CBF5-9A6D-CE43-A779445F2F48}"/>
              </a:ext>
            </a:extLst>
          </p:cNvPr>
          <p:cNvSpPr/>
          <p:nvPr/>
        </p:nvSpPr>
        <p:spPr>
          <a:xfrm>
            <a:off x="6745458" y="3664634"/>
            <a:ext cx="2053884" cy="81591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02CCEEC-4215-F8AB-8EE4-F18F1AAC28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572" y="365765"/>
            <a:ext cx="8011551" cy="450294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iit_hea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28" y="45720"/>
            <a:ext cx="8995800" cy="66751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713232"/>
            <a:ext cx="70828" cy="41605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274320" y="4892040"/>
            <a:ext cx="8322263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274320" y="4937760"/>
            <a:ext cx="53120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RLHF: Reward Modeling + DPO</a:t>
            </a: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858000" y="4937760"/>
            <a:ext cx="19477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7 / 16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274320" y="777240"/>
            <a:ext cx="83222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/ Software Requirements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274320" y="1143000"/>
            <a:ext cx="83222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Resources used for training and evaluation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5984453"/>
              </p:ext>
            </p:extLst>
          </p:nvPr>
        </p:nvGraphicFramePr>
        <p:xfrm>
          <a:off x="274320" y="1554480"/>
          <a:ext cx="4072597" cy="2468880"/>
        </p:xfrm>
        <a:graphic>
          <a:graphicData uri="http://schemas.openxmlformats.org/drawingml/2006/table">
            <a:tbl>
              <a:tblPr/>
              <a:tblGrid>
                <a:gridCol w="14165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604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1480">
                <a:tc grid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Hardware Requirements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4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NVIDIA T4 × 2 (16 GB each)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Platform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Kaggle Notebooks (free tier)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VRAM used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~7 GB peak (RM) / ~10 GB (DPO)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~2.5–3 hr first run; &lt;30 s cached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~250 MB for adapters + logs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7448546"/>
              </p:ext>
            </p:extLst>
          </p:nvPr>
        </p:nvGraphicFramePr>
        <p:xfrm>
          <a:off x="4663440" y="1554480"/>
          <a:ext cx="4072597" cy="2468880"/>
        </p:xfrm>
        <a:graphic>
          <a:graphicData uri="http://schemas.openxmlformats.org/drawingml/2006/table">
            <a:tbl>
              <a:tblPr/>
              <a:tblGrid>
                <a:gridCol w="13280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45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1480">
                <a:tc grid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Software Stack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F4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Language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3.10 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Framework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PyTorch 2.x + CUDA 11.8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Transformers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HuggingFace ≥ 4.40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Trainers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TRL (RewardTrainer, DPOTrainer)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PEFT / Quant.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PEFT (LoRA), bitsandbytes 4-bit NF4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iit_hea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45720"/>
            <a:ext cx="8869680" cy="6400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713232"/>
            <a:ext cx="73152" cy="41605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274320" y="4892040"/>
            <a:ext cx="859536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274320" y="49377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RLHF: Reward Modeling + DPO</a:t>
            </a: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858000" y="493776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8 / 16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274320" y="77724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Construction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274320" y="114300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Combining expert + crowd-sourced preference data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20040" y="1618488"/>
            <a:ext cx="320040" cy="32004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20040" y="161848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31520" y="155448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HH-RLHF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31520" y="181051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helpful-base split via HuggingFace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320040" y="2121408"/>
            <a:ext cx="320040" cy="32004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20040" y="212140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731520" y="205740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LMSYS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731520" y="231343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 K rows from train.csv (Kaggle competition)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320040" y="2624328"/>
            <a:ext cx="320040" cy="32004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20040" y="262432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731520" y="25603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Normalize Schema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731520" y="28163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{prompt, chosen, rejected, source}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320040" y="3127248"/>
            <a:ext cx="320040" cy="32004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320040" y="31272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731520" y="30632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Ties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731520" y="331927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LMSYS winner_tie=1 (~30 %) discarded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320040" y="3630168"/>
            <a:ext cx="320040" cy="32004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320040" y="363016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731520" y="356616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Truncate &amp; Filter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731520" y="382219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20 chars / field; cap at 1500 chars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320040" y="4133088"/>
            <a:ext cx="320040" cy="32004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320040" y="413308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731520" y="406908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Balanced Split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731520" y="432511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2 000 + 2 000 → stratified 3500 / 250 / 250</a:t>
            </a:r>
            <a:endParaRPr lang="en-US" sz="12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8558371"/>
              </p:ext>
            </p:extLst>
          </p:nvPr>
        </p:nvGraphicFramePr>
        <p:xfrm>
          <a:off x="4663440" y="1554480"/>
          <a:ext cx="4206240" cy="2633472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 gridSpan="3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Dataset Comparison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4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Property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HH-RLHF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LMSYS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Label type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Expert annotators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Crowd votes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Raw size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~25 K (helpful-base)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~57 K rows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~30 % (dropped)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Avg. resp.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~300 chars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~520 chars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Style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Multi-turn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/ Multi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iit_hea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45719"/>
            <a:ext cx="8869680" cy="685799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713232"/>
            <a:ext cx="73152" cy="41605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274320" y="4892040"/>
            <a:ext cx="859536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274320" y="49377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RLHF: Reward Modeling + DPO</a:t>
            </a: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858000" y="493776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9 / 16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274320" y="77724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Model Architecture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274320" y="114300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DeBERTa-v3-base + LoRA, Bradley-Terry pairwise loss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88620" y="1554480"/>
            <a:ext cx="1600200" cy="64008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88620" y="160020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Pair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388620" y="185623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(prompt, response)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2080260" y="1554480"/>
            <a:ext cx="1600200" cy="6400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080260" y="160020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DeBERTa-v3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2080260" y="185623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184 M (fp32)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3771900" y="1554480"/>
            <a:ext cx="1600200" cy="64008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771900" y="160020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LoRA q,k,v_proj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771900" y="185623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32, α = 64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463540" y="1554480"/>
            <a:ext cx="1600200" cy="64008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463540" y="160020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Pooler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5463540" y="185623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classifier head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7155180" y="1554480"/>
            <a:ext cx="1600200" cy="640080"/>
          </a:xfrm>
          <a:prstGeom prst="rect">
            <a:avLst/>
          </a:prstGeom>
          <a:solidFill>
            <a:srgbClr val="0F1E45"/>
          </a:solidFill>
          <a:ln w="12700">
            <a:solidFill>
              <a:srgbClr val="0F1E45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155180" y="160020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7155180" y="185623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scalar score r(x,y)</a:t>
            </a:r>
            <a:endParaRPr lang="en-US" sz="12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6451839"/>
              </p:ext>
            </p:extLst>
          </p:nvPr>
        </p:nvGraphicFramePr>
        <p:xfrm>
          <a:off x="274320" y="2331720"/>
          <a:ext cx="4206240" cy="2340864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2608">
                <a:tc grid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Training Configuration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4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microsoft/deberta-v3-base (184 M)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LoRA rank / α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 = 32, α = 64 (q/k/v_proj)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fp32  (DeBERTa fp16 → NaN)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Bradley-Terry pairwise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Learning rate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× 10⁻⁵  (cosine warmup)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Batch / Epochs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 ×  2 epochs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Trainable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~1.8 M / 184 M (≈ 1 %)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5" name="Text 21"/>
          <p:cNvSpPr/>
          <p:nvPr/>
        </p:nvSpPr>
        <p:spPr>
          <a:xfrm>
            <a:off x="4663440" y="23317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Bradley-Terry Loss</a:t>
            </a:r>
            <a:endParaRPr lang="en-US" sz="1200" dirty="0"/>
          </a:p>
        </p:txBody>
      </p:sp>
      <p:sp>
        <p:nvSpPr>
          <p:cNvPr id="26" name="Shape 22"/>
          <p:cNvSpPr/>
          <p:nvPr/>
        </p:nvSpPr>
        <p:spPr>
          <a:xfrm>
            <a:off x="4663440" y="2633472"/>
            <a:ext cx="4206240" cy="54864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4709160" y="2624328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i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</a:t>
            </a:r>
            <a:r>
              <a:rPr lang="en-US" sz="1200" b="1" baseline="-40000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RM</a:t>
            </a:r>
            <a:r>
              <a:rPr lang="en-US" sz="1200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=  −E [ log σ ( r</a:t>
            </a:r>
            <a:r>
              <a:rPr lang="en-US" sz="1200" i="1" baseline="-40000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θ</a:t>
            </a:r>
            <a:r>
              <a:rPr lang="en-US" sz="1200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(x, y</a:t>
            </a:r>
            <a:r>
              <a:rPr lang="en-US" sz="1200" i="1" baseline="-40000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r>
              <a:rPr lang="en-US" sz="1200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 − r</a:t>
            </a:r>
            <a:r>
              <a:rPr lang="en-US" sz="1200" i="1" baseline="-40000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θ</a:t>
            </a:r>
            <a:r>
              <a:rPr lang="en-US" sz="1200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(x, y</a:t>
            </a:r>
            <a:r>
              <a:rPr lang="en-US" sz="1200" i="1" baseline="-40000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r>
              <a:rPr lang="en-US" sz="1200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 ) ]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4663440" y="3218688"/>
            <a:ext cx="4206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Rationale</a:t>
            </a:r>
            <a:endParaRPr lang="en-US" sz="1200" dirty="0"/>
          </a:p>
        </p:txBody>
      </p:sp>
      <p:sp>
        <p:nvSpPr>
          <p:cNvPr id="29" name="Shape 25"/>
          <p:cNvSpPr/>
          <p:nvPr/>
        </p:nvSpPr>
        <p:spPr>
          <a:xfrm>
            <a:off x="4709160" y="3776472"/>
            <a:ext cx="164592" cy="16459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4892040" y="352044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DeBERTa?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4937760" y="3730752"/>
            <a:ext cx="4069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Bidirectional attention score full sequence better than causal LM</a:t>
            </a:r>
            <a:endParaRPr lang="en-US" sz="1200" dirty="0"/>
          </a:p>
        </p:txBody>
      </p:sp>
      <p:sp>
        <p:nvSpPr>
          <p:cNvPr id="32" name="Shape 28"/>
          <p:cNvSpPr/>
          <p:nvPr/>
        </p:nvSpPr>
        <p:spPr>
          <a:xfrm>
            <a:off x="4709160" y="4142232"/>
            <a:ext cx="164592" cy="16459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4937760" y="4014216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LoRA only?</a:t>
            </a:r>
            <a:endParaRPr lang="en-US" sz="1200" dirty="0"/>
          </a:p>
        </p:txBody>
      </p:sp>
      <p:sp>
        <p:nvSpPr>
          <p:cNvPr id="34" name="Text 30"/>
          <p:cNvSpPr/>
          <p:nvPr/>
        </p:nvSpPr>
        <p:spPr>
          <a:xfrm>
            <a:off x="4937760" y="4180918"/>
            <a:ext cx="3931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Trains &lt;1 % of params; full 184 M fits T4 in fp32</a:t>
            </a:r>
            <a:endParaRPr lang="en-US" sz="1200" dirty="0"/>
          </a:p>
        </p:txBody>
      </p:sp>
      <p:sp>
        <p:nvSpPr>
          <p:cNvPr id="35" name="Shape 31"/>
          <p:cNvSpPr/>
          <p:nvPr/>
        </p:nvSpPr>
        <p:spPr>
          <a:xfrm>
            <a:off x="4709160" y="4507992"/>
            <a:ext cx="164592" cy="16459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4937760" y="4398969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fp32?</a:t>
            </a:r>
            <a:endParaRPr lang="en-US" sz="1200" dirty="0"/>
          </a:p>
        </p:txBody>
      </p:sp>
      <p:sp>
        <p:nvSpPr>
          <p:cNvPr id="37" name="Text 33"/>
          <p:cNvSpPr/>
          <p:nvPr/>
        </p:nvSpPr>
        <p:spPr>
          <a:xfrm>
            <a:off x="4937760" y="4617720"/>
            <a:ext cx="3931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DeBERTa disentangled attention produces NaN in fp16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iit_hea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" y="45720"/>
            <a:ext cx="8933688" cy="6858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713232"/>
            <a:ext cx="73152" cy="41605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274320" y="4892040"/>
            <a:ext cx="859536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274320" y="49377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RLHF: Reward Modeling + DPO</a:t>
            </a: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858000" y="493776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10 / 16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274320" y="77724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DPO Fine-Tuning of TinyLlama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274320" y="114300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Closed-form RLHF — 2 models in memory, no RL loop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88620" y="1554480"/>
            <a:ext cx="1600200" cy="64008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88620" y="160020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π_θ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388620" y="185623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TinyLlama-1.1B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2080260" y="1554480"/>
            <a:ext cx="1600200" cy="640080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080260" y="160020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π_ref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2080260" y="185623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 base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3771900" y="1554480"/>
            <a:ext cx="1600200" cy="64008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771900" y="160020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 (yc, yr)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771900" y="185623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combined data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463540" y="1554480"/>
            <a:ext cx="1600200" cy="6400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463540" y="160020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DPO Loss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5463540" y="185623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 = 0.1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7155180" y="1554480"/>
            <a:ext cx="1600200" cy="640080"/>
          </a:xfrm>
          <a:prstGeom prst="rect">
            <a:avLst/>
          </a:prstGeom>
          <a:solidFill>
            <a:srgbClr val="0F1E45"/>
          </a:solidFill>
          <a:ln w="12700">
            <a:solidFill>
              <a:srgbClr val="0F1E45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155180" y="160020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LoRA Update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7155180" y="185623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q,k,v,o_proj</a:t>
            </a:r>
            <a:endParaRPr lang="en-US" sz="12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2242927"/>
              </p:ext>
            </p:extLst>
          </p:nvPr>
        </p:nvGraphicFramePr>
        <p:xfrm>
          <a:off x="274320" y="2331720"/>
          <a:ext cx="4206240" cy="2468880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4320">
                <a:tc grid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DPO Configuration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4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Policy 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TinyLlama-1.1B-Chat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Quantization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4-bit NF4 + double-quant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LoRA rank / α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 = 16, α = 32 (q,k,v,o)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DPO β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  (TRL default)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Learning rate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× 10⁻⁵ (cosine)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Batch / Epochs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× 2 epochs  •  grad-accum 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Optimizer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Paged AdamW 8-bit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Trainable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~4.4 M / 1.1 B (≈ 0.4 %)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5" name="Text 21"/>
          <p:cNvSpPr/>
          <p:nvPr/>
        </p:nvSpPr>
        <p:spPr>
          <a:xfrm>
            <a:off x="4663440" y="23317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DPO Loss</a:t>
            </a:r>
            <a:endParaRPr lang="en-US" sz="1200" dirty="0"/>
          </a:p>
        </p:txBody>
      </p:sp>
      <p:sp>
        <p:nvSpPr>
          <p:cNvPr id="26" name="Shape 22"/>
          <p:cNvSpPr/>
          <p:nvPr/>
        </p:nvSpPr>
        <p:spPr>
          <a:xfrm>
            <a:off x="4663440" y="2633472"/>
            <a:ext cx="4206240" cy="77724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4754880" y="269748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L_DPO = −log σ ( β·log[π_θ(y_c|x)/π_ref(y_c|x)] − β·log[π_θ(y_r|x)/π_ref(y_r|x)] )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4663440" y="352044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DPO instead of PPO?</a:t>
            </a:r>
            <a:endParaRPr lang="en-US" sz="1200" dirty="0"/>
          </a:p>
        </p:txBody>
      </p:sp>
      <p:sp>
        <p:nvSpPr>
          <p:cNvPr id="29" name="Shape 25"/>
          <p:cNvSpPr/>
          <p:nvPr/>
        </p:nvSpPr>
        <p:spPr>
          <a:xfrm>
            <a:off x="4709160" y="3886200"/>
            <a:ext cx="146304" cy="146304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4919472" y="382219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models in VRAM (vs. 4 for PPO)</a:t>
            </a:r>
            <a:endParaRPr lang="en-US" sz="1200" dirty="0"/>
          </a:p>
        </p:txBody>
      </p:sp>
      <p:sp>
        <p:nvSpPr>
          <p:cNvPr id="31" name="Shape 27"/>
          <p:cNvSpPr/>
          <p:nvPr/>
        </p:nvSpPr>
        <p:spPr>
          <a:xfrm>
            <a:off x="4709160" y="4178808"/>
            <a:ext cx="146304" cy="146304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4919472" y="41148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Closed-form loss — no RL instability</a:t>
            </a:r>
            <a:endParaRPr lang="en-US" sz="1200" dirty="0"/>
          </a:p>
        </p:txBody>
      </p:sp>
      <p:sp>
        <p:nvSpPr>
          <p:cNvPr id="33" name="Shape 29"/>
          <p:cNvSpPr/>
          <p:nvPr/>
        </p:nvSpPr>
        <p:spPr>
          <a:xfrm>
            <a:off x="4709160" y="4471416"/>
            <a:ext cx="146304" cy="146304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4919472" y="440740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data as RM — no rollout needed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iit_hea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45720"/>
            <a:ext cx="8869680" cy="6400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713232"/>
            <a:ext cx="73152" cy="41605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274320" y="4892040"/>
            <a:ext cx="859536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274320" y="49377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RLHF: Reward Modeling + DPO</a:t>
            </a: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</a:t>
            </a: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Mini-Project Review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858000" y="493776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11 / 16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274320" y="77724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Status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274320" y="114300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end-to-end pipeline runs on free Kaggle T4×2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274320" y="1554480"/>
            <a:ext cx="8595360" cy="411480"/>
          </a:xfrm>
          <a:prstGeom prst="rect">
            <a:avLst/>
          </a:prstGeom>
          <a:solidFill>
            <a:srgbClr val="E5E7EB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74320" y="1554480"/>
            <a:ext cx="8165592" cy="41148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74320" y="1554480"/>
            <a:ext cx="81655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 Pipeline Complete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274320" y="2148840"/>
            <a:ext cx="4206240" cy="36576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74320" y="21488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Completed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663440" y="2148840"/>
            <a:ext cx="4206240" cy="3657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663440" y="21488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◉  Remaining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274320" y="2606040"/>
            <a:ext cx="4206240" cy="320040"/>
          </a:xfrm>
          <a:prstGeom prst="rect">
            <a:avLst/>
          </a:prstGeom>
          <a:solidFill>
            <a:srgbClr val="ECFDF5"/>
          </a:solidFill>
          <a:ln w="508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11480" y="26060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HH-RLHF + LMSYS dataset (4 000 pairs)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274320" y="2971800"/>
            <a:ext cx="4206240" cy="320040"/>
          </a:xfrm>
          <a:prstGeom prst="rect">
            <a:avLst/>
          </a:prstGeom>
          <a:solidFill>
            <a:srgbClr val="ECFDF5"/>
          </a:solidFill>
          <a:ln w="5080">
            <a:solidFill>
              <a:srgbClr val="E2E8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1480" y="297180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DeBERTa-v3-base reward model + LoRA training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274320" y="3337560"/>
            <a:ext cx="4206240" cy="320040"/>
          </a:xfrm>
          <a:prstGeom prst="rect">
            <a:avLst/>
          </a:prstGeom>
          <a:solidFill>
            <a:srgbClr val="ECFDF5"/>
          </a:solidFill>
          <a:ln w="5080">
            <a:solidFill>
              <a:srgbClr val="E2E8F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11480" y="333756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Per-source pairwise accuracy evaluation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274320" y="3703320"/>
            <a:ext cx="4206240" cy="320040"/>
          </a:xfrm>
          <a:prstGeom prst="rect">
            <a:avLst/>
          </a:prstGeom>
          <a:solidFill>
            <a:srgbClr val="ECFDF5"/>
          </a:solidFill>
          <a:ln w="5080">
            <a:solidFill>
              <a:srgbClr val="E2E8F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11480" y="37033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DPO fine-tuning of TinyLlama-1.1B (4-bit + LoRA)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274320" y="4069080"/>
            <a:ext cx="4206240" cy="320040"/>
          </a:xfrm>
          <a:prstGeom prst="rect">
            <a:avLst/>
          </a:prstGeom>
          <a:solidFill>
            <a:srgbClr val="ECFDF5"/>
          </a:solidFill>
          <a:ln w="5080">
            <a:solidFill>
              <a:srgbClr val="E2E8F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11480" y="40690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Win-rate evaluation on 50 held-out prompts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274320" y="4434840"/>
            <a:ext cx="4206240" cy="320040"/>
          </a:xfrm>
          <a:prstGeom prst="rect">
            <a:avLst/>
          </a:prstGeom>
          <a:solidFill>
            <a:srgbClr val="ECFDF5"/>
          </a:solidFill>
          <a:ln w="5080">
            <a:solidFill>
              <a:srgbClr val="E2E8F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11480" y="44348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demo cell for live jury comparison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663440" y="2606040"/>
            <a:ext cx="4206240" cy="320040"/>
          </a:xfrm>
          <a:prstGeom prst="rect">
            <a:avLst/>
          </a:prstGeom>
          <a:solidFill>
            <a:srgbClr val="FEF2F2"/>
          </a:solidFill>
          <a:ln w="5080">
            <a:solidFill>
              <a:srgbClr val="E2E8F0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800600" y="26060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SFT stage before DPO (full InstructGPT path)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4663440" y="2971800"/>
            <a:ext cx="4206240" cy="320040"/>
          </a:xfrm>
          <a:prstGeom prst="rect">
            <a:avLst/>
          </a:prstGeom>
          <a:solidFill>
            <a:srgbClr val="FEF2F2"/>
          </a:solidFill>
          <a:ln w="5080">
            <a:solidFill>
              <a:srgbClr val="E2E8F0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800600" y="297180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policy to 7 B (Mistral / LLaMA-3)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4663440" y="3337560"/>
            <a:ext cx="4206240" cy="320040"/>
          </a:xfrm>
          <a:prstGeom prst="rect">
            <a:avLst/>
          </a:prstGeom>
          <a:solidFill>
            <a:srgbClr val="FEF2F2"/>
          </a:solidFill>
          <a:ln w="5080">
            <a:solidFill>
              <a:srgbClr val="E2E8F0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800600" y="333756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Length-controlled evaluation (de-bias for length)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4800600" y="37033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iit_hea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45720"/>
            <a:ext cx="8869680" cy="70866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713232"/>
            <a:ext cx="73152" cy="41605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274320" y="4892040"/>
            <a:ext cx="859536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274320" y="49377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RLHF: Reward Modeling + DPO</a:t>
            </a: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858000" y="493776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12 / 16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274320" y="77724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274320" y="114300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Model accuracy and DPO win-rates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70332" y="1554480"/>
            <a:ext cx="2011680" cy="10058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70332" y="16002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66.2%</a:t>
            </a:r>
            <a:endParaRPr lang="en-US" sz="2800" dirty="0"/>
          </a:p>
        </p:txBody>
      </p:sp>
      <p:sp>
        <p:nvSpPr>
          <p:cNvPr id="11" name="Text 8"/>
          <p:cNvSpPr/>
          <p:nvPr/>
        </p:nvSpPr>
        <p:spPr>
          <a:xfrm>
            <a:off x="370332" y="219456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RM Accuracy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2500884" y="1554480"/>
            <a:ext cx="2011680" cy="10058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500884" y="16002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68.2%</a:t>
            </a:r>
            <a:endParaRPr lang="en-US" sz="2800" dirty="0"/>
          </a:p>
        </p:txBody>
      </p:sp>
      <p:sp>
        <p:nvSpPr>
          <p:cNvPr id="14" name="Text 11"/>
          <p:cNvSpPr/>
          <p:nvPr/>
        </p:nvSpPr>
        <p:spPr>
          <a:xfrm>
            <a:off x="2500884" y="219456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HH-RLHF Pairwise Acc.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4631436" y="1554480"/>
            <a:ext cx="2011680" cy="10058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631436" y="16002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64%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4631436" y="219456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LMSYS Pairwise Acc.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6761988" y="1554480"/>
            <a:ext cx="2011680" cy="1005840"/>
          </a:xfrm>
          <a:prstGeom prst="rect">
            <a:avLst/>
          </a:prstGeom>
          <a:solidFill>
            <a:srgbClr val="0F1E45"/>
          </a:solidFill>
          <a:ln w="12700">
            <a:solidFill>
              <a:srgbClr val="0F1E45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761988" y="16002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62.1%</a:t>
            </a:r>
            <a:endParaRPr lang="en-US" sz="2800" dirty="0"/>
          </a:p>
        </p:txBody>
      </p:sp>
      <p:sp>
        <p:nvSpPr>
          <p:cNvPr id="20" name="Text 17"/>
          <p:cNvSpPr/>
          <p:nvPr/>
        </p:nvSpPr>
        <p:spPr>
          <a:xfrm>
            <a:off x="6761988" y="219456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DPO Win-Rate (n = 50)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274320" y="27432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DPO Win-Rate by Source</a:t>
            </a:r>
            <a:endParaRPr lang="en-US" sz="1200" dirty="0"/>
          </a:p>
        </p:txBody>
      </p:sp>
      <p:graphicFrame>
        <p:nvGraphicFramePr>
          <p:cNvPr id="22" name="Chart 0"/>
          <p:cNvGraphicFramePr/>
          <p:nvPr/>
        </p:nvGraphicFramePr>
        <p:xfrm>
          <a:off x="274320" y="3017520"/>
          <a:ext cx="4206240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3" name="Text 19"/>
          <p:cNvSpPr/>
          <p:nvPr/>
        </p:nvSpPr>
        <p:spPr>
          <a:xfrm>
            <a:off x="4663440" y="27432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Observations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4709160" y="3154680"/>
            <a:ext cx="137160" cy="13716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4892040" y="3063240"/>
            <a:ext cx="3977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Per-source gap is 3.1 pp — well within 10-pp generalization threshold</a:t>
            </a:r>
            <a:endParaRPr lang="en-US" sz="1200" dirty="0"/>
          </a:p>
        </p:txBody>
      </p:sp>
      <p:sp>
        <p:nvSpPr>
          <p:cNvPr id="26" name="Shape 22"/>
          <p:cNvSpPr/>
          <p:nvPr/>
        </p:nvSpPr>
        <p:spPr>
          <a:xfrm>
            <a:off x="4709160" y="3520440"/>
            <a:ext cx="137160" cy="13716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4892040" y="3429000"/>
            <a:ext cx="3977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DPO wins on both distributions, not just one</a:t>
            </a:r>
            <a:endParaRPr lang="en-US" sz="1200" dirty="0"/>
          </a:p>
        </p:txBody>
      </p:sp>
      <p:sp>
        <p:nvSpPr>
          <p:cNvPr id="28" name="Shape 24"/>
          <p:cNvSpPr/>
          <p:nvPr/>
        </p:nvSpPr>
        <p:spPr>
          <a:xfrm>
            <a:off x="4709160" y="3886200"/>
            <a:ext cx="137160" cy="13716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4892040" y="3794760"/>
            <a:ext cx="3977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reward improvement Δ = +0.37 across 50 prompts</a:t>
            </a:r>
            <a:endParaRPr lang="en-US" sz="1200" dirty="0"/>
          </a:p>
        </p:txBody>
      </p:sp>
      <p:sp>
        <p:nvSpPr>
          <p:cNvPr id="30" name="Shape 26"/>
          <p:cNvSpPr/>
          <p:nvPr/>
        </p:nvSpPr>
        <p:spPr>
          <a:xfrm>
            <a:off x="4709160" y="4251960"/>
            <a:ext cx="137160" cy="13716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4892040" y="4160520"/>
            <a:ext cx="3977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Single-source RMs drop 9–14 pp on the other source (ablation)</a:t>
            </a:r>
            <a:endParaRPr lang="en-US" sz="1200" dirty="0"/>
          </a:p>
        </p:txBody>
      </p:sp>
      <p:sp>
        <p:nvSpPr>
          <p:cNvPr id="32" name="Shape 28"/>
          <p:cNvSpPr/>
          <p:nvPr/>
        </p:nvSpPr>
        <p:spPr>
          <a:xfrm>
            <a:off x="4709160" y="4617720"/>
            <a:ext cx="137160" cy="13716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4892040" y="4526280"/>
            <a:ext cx="3977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runs in ~2.5–3 hr first run; &lt;30 s for cached re-runs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iit_hea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45720"/>
            <a:ext cx="8869680" cy="66751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713232"/>
            <a:ext cx="73152" cy="41605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274320" y="4892040"/>
            <a:ext cx="859536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274320" y="49377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RLHF: Reward Modeling + DPO</a:t>
            </a: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858000" y="493776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13 / 16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274320" y="77724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Advantages &amp; Applications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274320" y="114300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approach matters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274320" y="15544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Advantages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320040" y="1938528"/>
            <a:ext cx="201168" cy="201168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4360" y="1828800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Institutional Compute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94360" y="206654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pipeline runs on free Kaggle T4×2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320040" y="2487168"/>
            <a:ext cx="201168" cy="201168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94360" y="2377440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RM Overfitting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94360" y="261518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Per-source eval exposes single-dataset failures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320040" y="3035808"/>
            <a:ext cx="201168" cy="201168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94360" y="2926080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Parameter-Efficient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594360" y="316382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Trains ~0.4–1 % of model weights via LoRA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320040" y="3584448"/>
            <a:ext cx="201168" cy="201168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94360" y="3474720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Cross-Distribution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594360" y="371246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RM works on expert AND crowd labels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320040" y="4133088"/>
            <a:ext cx="201168" cy="201168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94360" y="4023360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Reproducible &amp; Cached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594360" y="426110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Re-runs complete in &lt;30 s after first train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663440" y="15544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663440" y="1828800"/>
            <a:ext cx="2011680" cy="77724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754880" y="190195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LLM Alignment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4754880" y="2157984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 model with company-specific feedback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858000" y="1828800"/>
            <a:ext cx="2011680" cy="77724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949440" y="190195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Guardrails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6949440" y="2157984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 as a content-quality gate before user-facing replies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4663440" y="2743200"/>
            <a:ext cx="2011680" cy="77724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754880" y="281635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 LLM Tuning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4754880" y="3072384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DPO recipe to Mistral, LLaMA, Qwen variants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6858000" y="2743200"/>
            <a:ext cx="2011680" cy="77724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6949440" y="281635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Educational Chatbots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6949440" y="3072384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 student tutors with graded preferences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4663440" y="3657600"/>
            <a:ext cx="2011680" cy="77724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4754880" y="373075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Reproducibility</a:t>
            </a:r>
            <a:endParaRPr lang="en-US" sz="1200" dirty="0"/>
          </a:p>
        </p:txBody>
      </p:sp>
      <p:sp>
        <p:nvSpPr>
          <p:cNvPr id="40" name="Text 37"/>
          <p:cNvSpPr/>
          <p:nvPr/>
        </p:nvSpPr>
        <p:spPr>
          <a:xfrm>
            <a:off x="4754880" y="3986784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Cheap, open recipe for RLHF coursework / projects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6858000" y="3657600"/>
            <a:ext cx="2011680" cy="77724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6949440" y="373075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Tooling</a:t>
            </a:r>
            <a:endParaRPr lang="en-US" sz="1200" dirty="0"/>
          </a:p>
        </p:txBody>
      </p:sp>
      <p:sp>
        <p:nvSpPr>
          <p:cNvPr id="43" name="Text 40"/>
          <p:cNvSpPr/>
          <p:nvPr/>
        </p:nvSpPr>
        <p:spPr>
          <a:xfrm>
            <a:off x="6949440" y="3986784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 as automatic A/B judge for prompt-engineering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iit_hea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45720"/>
            <a:ext cx="8869680" cy="6400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713232"/>
            <a:ext cx="73152" cy="41605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274320" y="4892040"/>
            <a:ext cx="859536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274320" y="49377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RLHF: Reward Modeling + DPO</a:t>
            </a: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858000" y="493776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14 / 16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274320" y="77724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Scope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274320" y="114300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Directions for extending this work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274320" y="1554480"/>
            <a:ext cx="4160520" cy="100584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84048" y="1691640"/>
            <a:ext cx="365760" cy="36576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84048" y="1691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68680" y="1645920"/>
            <a:ext cx="3429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SFT Stage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68680" y="1938528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Pre-train on chosen responses before DPO — completes the full InstructGPT pipeline and likely raises the alignment ceiling.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617720" y="1554480"/>
            <a:ext cx="4160520" cy="100584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727448" y="1691640"/>
            <a:ext cx="365760" cy="36576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727448" y="1691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212080" y="1645920"/>
            <a:ext cx="3429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 Dataset (UltraFeedback)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5212080" y="1938528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third preference source aggregating GPT-4 / Claude / Alpaca votes to test generalization further.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274320" y="2697480"/>
            <a:ext cx="4160520" cy="100584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384048" y="2834640"/>
            <a:ext cx="365760" cy="36576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84048" y="2834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" y="2788920"/>
            <a:ext cx="3429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Policy to 7 B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" y="3081528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 with Mistral-7B or LLaMA-3-8B and check whether per-source generalization holds at scale.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4617720" y="2697480"/>
            <a:ext cx="4160520" cy="100584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4727448" y="2834640"/>
            <a:ext cx="365760" cy="36576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727448" y="2834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5212080" y="2788920"/>
            <a:ext cx="3429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Judge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5212080" y="3081528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RM-as-judge with GPT-4 pairwise evaluation or blind human raters to remove circularity.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274320" y="3840480"/>
            <a:ext cx="4160520" cy="100584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384048" y="3977640"/>
            <a:ext cx="365760" cy="36576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384048" y="3977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868680" y="3931920"/>
            <a:ext cx="3429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Multi-Source RM Ensemble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868680" y="4224528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separate RM heads for HH and LMSYS, mix during DPO with learned weights — source-specific calibration.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4617720" y="3840480"/>
            <a:ext cx="4160520" cy="100584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727448" y="3977640"/>
            <a:ext cx="365760" cy="36576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4727448" y="3977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5212080" y="3931920"/>
            <a:ext cx="3429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Constitutional AI Layer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5212080" y="4224528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 DPO helpfulness with an inference-time CAI self-critique pass to address harmlessness explicitly.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iit_hea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45720"/>
            <a:ext cx="8869680" cy="6400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713232"/>
            <a:ext cx="73152" cy="41605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274320" y="4892040"/>
            <a:ext cx="859536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274320" y="49377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RLHF: Reward Modeling + DPO</a:t>
            </a: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858000" y="493776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15 / 16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274320" y="77724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274320" y="114300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0438337"/>
              </p:ext>
            </p:extLst>
          </p:nvPr>
        </p:nvGraphicFramePr>
        <p:xfrm>
          <a:off x="274320" y="1301264"/>
          <a:ext cx="8595360" cy="3481751"/>
        </p:xfrm>
        <a:graphic>
          <a:graphicData uri="http://schemas.openxmlformats.org/drawingml/2006/table">
            <a:tbl>
              <a:tblPr/>
              <a:tblGrid>
                <a:gridCol w="45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46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51623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Venue / Type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090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[1]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L. Ouyang et al.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i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Training language models to follow instructions with human feedback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Proc. NeurIPS, vol. 35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 2022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090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[2]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R. Rafailov, A. Sharma, E. Mitchell et al.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i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 Preference Optimization: Your LM is secretly a reward model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Proc. NeurIPS (Best Paper)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 2023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1623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[3]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E. J. Hu et al.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i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LoRA: Low-rank adaptation of large language models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Proc. ICLR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 2022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090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[4]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T. Dettmers, A. Pagnoni, A. Holtzman, L. Zettlemoyer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i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QLoRA: Efficient finetuning of quantized LLMs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Proc. NeurIPS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 2023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1623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[5]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Y. Bai et al.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i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Training a helpful and harmless assistant with RLHF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arXiv:2204.05862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 2022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090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[6]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W.-L. Chiang et al.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i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Chatbot Arena: An open platform for evaluating LLMs by preference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arXiv:2403.04132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 2024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1623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[7]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Y. Bai et al.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i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Constitutional AI: Harmlessness from AI feedback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arXiv:2212.08073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 2022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1623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[8]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HuggingFace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i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TRL — Transformer Reinforcement Learning library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iit_hea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91440"/>
            <a:ext cx="8869680" cy="70866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868680"/>
            <a:ext cx="9144000" cy="4279392"/>
          </a:xfrm>
          <a:prstGeom prst="rect">
            <a:avLst/>
          </a:prstGeom>
          <a:solidFill>
            <a:srgbClr val="0F1E45"/>
          </a:solidFill>
          <a:ln w="12700">
            <a:solidFill>
              <a:srgbClr val="0F1E45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0" y="173736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kern="0" spc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5" name="Shape 2"/>
          <p:cNvSpPr/>
          <p:nvPr/>
        </p:nvSpPr>
        <p:spPr>
          <a:xfrm>
            <a:off x="3200400" y="2606040"/>
            <a:ext cx="2743200" cy="0"/>
          </a:xfrm>
          <a:prstGeom prst="line">
            <a:avLst/>
          </a:prstGeom>
          <a:noFill/>
          <a:ln w="25400">
            <a:solidFill>
              <a:srgbClr val="F5A62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0" y="2743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RLHF: Reward Modeling + DPO   •   DeBERTa-v3   •   TinyLlama-1.1B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0" y="31089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HH-RLHF + LMSYS Arena   •   Per-source cross-distribution evaluation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0" y="40233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Computer Science and Engineering, IIIT Surat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161</TotalTime>
  <Words>2261</Words>
  <Application>Microsoft Office PowerPoint</Application>
  <PresentationFormat>On-screen Show (16:9)</PresentationFormat>
  <Paragraphs>465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RLHF Mini-Project — Reward Modeling + DPO</dc:title>
  <dc:subject>PptxGenJS Presentation</dc:subject>
  <dc:creator>Pratik D. Avhad, Sahil Singh, Aviral Pandey</dc:creator>
  <cp:lastModifiedBy>sahil2604singh@gmail.com</cp:lastModifiedBy>
  <cp:revision>6</cp:revision>
  <dcterms:created xsi:type="dcterms:W3CDTF">2026-05-15T05:45:57Z</dcterms:created>
  <dcterms:modified xsi:type="dcterms:W3CDTF">2026-05-15T10:57:23Z</dcterms:modified>
</cp:coreProperties>
</file>