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(%)</c:v>
                </c:pt>
              </c:strCache>
            </c:strRef>
          </c:tx>
          <c:spPr>
            <a:solidFill>
              <a:srgbClr val="10B981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96-41D7-A2A6-7424B83E0A9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96-41D7-A2A6-7424B83E0A91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96-41D7-A2A6-7424B83E0A91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HH-RLHF</c:v>
                </c:pt>
                <c:pt idx="1">
                  <c:v>LMSYS</c:v>
                </c:pt>
                <c:pt idx="2">
                  <c:v>Combined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64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696-41D7-A2A6-7424B83E0A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71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675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Presentation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5636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Why alignment of language models matters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837944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1819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InstructGPT, DPO, LoRA, preference datasets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33172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41248" y="2551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Single-dataset RM overfit failure mode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82549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41248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Pipeline architecture + project flowchart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1248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41248" y="3538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Free Kaggle T4×2, HuggingFace, TRL, PEFT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81304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41248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1248" y="4032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HH-RLHF + LMSYS → 4 000 balanced pairs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54880" y="1344168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138928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138928" y="15636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DeBERTa-v3-base + LoRA, Bradley-Terry loss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1837944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138928" y="1819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Fine-Tuning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5138928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TinyLlama-1.1B + 4-bit NF4 + LoRA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54880" y="2331720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138928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5138928" y="2551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End-to-end pipeline complete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54880" y="2825496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138928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138928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RM 68.2% % acc.  •  DPO 60.1 % win-rate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0" y="3319272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138928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5138928" y="3538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Why this approach is useful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754880" y="3813048"/>
            <a:ext cx="292608" cy="292608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138928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5138928" y="4032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SFT stage, scale-up, ensemble RMs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19"/>
            <a:ext cx="8869680" cy="67665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Reinforcement Learning from Human Feedback?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4320" y="15544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aligns large language models with human preferences. The standard pipeline is three stages: (1) pre-training, (2) Reward Model trained on pairwise human comparisons, and (3) policy fine-tuning. This project implements stages 2 and 3 end-to-end on free GPU hardware using a novel combination of expert-annotated and crowd-sourced preference data.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88739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" y="31546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LMs predict tokens — they don't know what humans prefer.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use a single preference dataset and overfit it.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evaluation exposes RM generalization failures.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 Kaggle T4 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77840" y="1481326"/>
            <a:ext cx="3291840" cy="3319273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481327"/>
            <a:ext cx="3291840" cy="429768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527046"/>
            <a:ext cx="3291840" cy="393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217627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HH-RLHF + LMSYS → 4 000 pairs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15000" y="267919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8932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+ LoRA, BT-loss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15000" y="318211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8932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pairwise accuracy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15000" y="368503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611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DPO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89320" y="3813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TinyLlama-1.1B + 4-bit + LoRA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715000" y="418795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8932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held-out prompts, RM judge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5003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related research and methods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74675"/>
              </p:ext>
            </p:extLst>
          </p:nvPr>
        </p:nvGraphicFramePr>
        <p:xfrm>
          <a:off x="274320" y="1554480"/>
          <a:ext cx="8595360" cy="3291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Ouyang et al.,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InstructGPT (PPO)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Three-stage RLHF pipeline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4 models in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Rafailov et al.,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RLHF; no RL loop (NeurIPS Best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reference-model 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et al.,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~0.4 % of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choice is task-specific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Dettmers et al.,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(4-bit NF4)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billion-param LLMs on a single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quality vs. fp16 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 et al.,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HH-RLHF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helpfulness + harmlessness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labeling 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Chiang et al.,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LMSYS Chatbot Arena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K crowd-sourced votes; diverse prompts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labels, ~30 % 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Proposed,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HH + LMSYS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Cross-distribution RM with per-source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our project aims to fill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solidFill>
            <a:srgbClr val="FFF8E1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413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Large Language Models (LLMs) are commonly aligned using human preference learning techniques such as Reward Modeling and RLHF. However, during preference training, reward models often develop self-preference bias, where the system begins favoring responses that resemble the style, structure, or distribution of its own training data rather than objectively evaluating response quality.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2788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Addressed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3108960"/>
            <a:ext cx="4069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330098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fairness and generalization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between actual response quality and assigned reward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26280" y="3108960"/>
            <a:ext cx="4069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30098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66360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Label-Regime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Mismatch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6636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vs. crowd votes have different bias profiles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4023360"/>
            <a:ext cx="4069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421538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0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" y="4370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toward verbose or stylistically similar outputs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26280" y="4023360"/>
            <a:ext cx="4069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21538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166360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166360" y="4370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per-source metrics, not just an averaged headline number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/ Architecture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RLHF pipeline (Stage 1 → Stage 4)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" y="1554480"/>
            <a:ext cx="19659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4340" y="1938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Dataset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400300" y="15544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37460" y="1554480"/>
            <a:ext cx="19659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746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37460" y="1938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3420" y="15544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40580" y="1531620"/>
            <a:ext cx="19659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058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0580" y="1938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Fine-Tuning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06540" y="15544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43700" y="1554480"/>
            <a:ext cx="196596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370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43700" y="1938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Eval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432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6344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design choice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74320" y="288036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2816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Dataset: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0352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HH-RLHF (expert) + LMSYS (crowd) → 4 000 pairs, 50/50 mix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338328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" y="3319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Model: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538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DeBERTa-v3-base + LoRA (r=32), Bradley-Terry pairwise loss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74320" y="388620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" y="3822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Policy: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0352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TinyLlama-1.1B-Chat, 4-bit NF4, LoRA (r=16), β=0.1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74320" y="438912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" y="4325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Eval: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0352" y="4544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pairwise acc.; 50 held-out prompts (25 + 25)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2880360"/>
            <a:ext cx="164592" cy="164592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19472" y="2816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data: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919472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memorization of any one labeling regime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663440" y="3383280"/>
            <a:ext cx="164592" cy="164592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19472" y="3319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DeBERTa-v3: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919472" y="3538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attention is best for scoring full sequences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63440" y="3886200"/>
            <a:ext cx="164592" cy="164592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19472" y="3822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+ LoRA: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919472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0.4 % of parameters; fits 1.1 B model in a T4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663440" y="4389120"/>
            <a:ext cx="164592" cy="164592"/>
          </a:xfrm>
          <a:prstGeom prst="ellipse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19472" y="4325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over PPO: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919472" y="4544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 in memory vs. 4; closed-form loss, no RL instability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56270"/>
            <a:ext cx="73152" cy="481748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15357"/>
            <a:ext cx="5486400" cy="25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15357"/>
            <a:ext cx="2011680" cy="25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56271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Flowchart</a:t>
            </a: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1EE09-051A-B0DD-CF9C-BE922479BEF1}"/>
              </a:ext>
            </a:extLst>
          </p:cNvPr>
          <p:cNvSpPr/>
          <p:nvPr/>
        </p:nvSpPr>
        <p:spPr>
          <a:xfrm>
            <a:off x="6745458" y="2236763"/>
            <a:ext cx="2053884" cy="647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A848A1-CBF5-9A6D-CE43-A779445F2F48}"/>
              </a:ext>
            </a:extLst>
          </p:cNvPr>
          <p:cNvSpPr/>
          <p:nvPr/>
        </p:nvSpPr>
        <p:spPr>
          <a:xfrm>
            <a:off x="6745458" y="3664634"/>
            <a:ext cx="2053884" cy="8159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2CCEEC-4215-F8AB-8EE4-F18F1AAC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72" y="365765"/>
            <a:ext cx="8011551" cy="4502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8" y="45720"/>
            <a:ext cx="8995800" cy="6675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0828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32226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312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19477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322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Requirements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3222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used for training and evaluation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84453"/>
              </p:ext>
            </p:extLst>
          </p:nvPr>
        </p:nvGraphicFramePr>
        <p:xfrm>
          <a:off x="274320" y="1554480"/>
          <a:ext cx="4072597" cy="2468880"/>
        </p:xfrm>
        <a:graphic>
          <a:graphicData uri="http://schemas.openxmlformats.org/drawingml/2006/table">
            <a:tbl>
              <a:tblPr/>
              <a:tblGrid>
                <a:gridCol w="141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× 2 (16 GB each)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Notebooks (free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GB peak (RM) / ~10 GB (DPO)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~2.5–3 hr first run; &lt;30 s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 MB for adapters +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48546"/>
              </p:ext>
            </p:extLst>
          </p:nvPr>
        </p:nvGraphicFramePr>
        <p:xfrm>
          <a:off x="4663440" y="1554480"/>
          <a:ext cx="4072597" cy="2468880"/>
        </p:xfrm>
        <a:graphic>
          <a:graphicData uri="http://schemas.openxmlformats.org/drawingml/2006/table">
            <a:tbl>
              <a:tblPr/>
              <a:tblGrid>
                <a:gridCol w="132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2.x + CUDA 11.8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≥ 4.40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 (RewardTrainer, DPOTrainer)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 / Quant.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 (LoRA), bitsandbytes 4-bit NF4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expert + crowd-sourced preference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161848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HH-RLHF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helpful-base split via HuggingFace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212140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LMSYS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 rows from train.csv (Kaggle competition)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62432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Schema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{prompt, chosen, rejected, source}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0040" y="312724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Ties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winner_tie=1 (~30 %) discarded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0040" y="363016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&amp; Filter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3152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20 chars / field; cap at 1500 chars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0040" y="413308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3152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Split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152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+ 2 000 → stratified 3500 / 250 / 250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58371"/>
              </p:ext>
            </p:extLst>
          </p:nvPr>
        </p:nvGraphicFramePr>
        <p:xfrm>
          <a:off x="4663440" y="1554480"/>
          <a:ext cx="4206240" cy="26334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HH-RLHF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annotators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votes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K (helpful-base)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 K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~30 % (dropped)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resp.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~520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/ Multi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19"/>
            <a:ext cx="8869680" cy="6857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Architecture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DeBERTa-v3-base + LoRA, Bradley-Terry pairwise loss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8620" y="1554480"/>
            <a:ext cx="1600200" cy="640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862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(prompt, response)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80260" y="1554480"/>
            <a:ext cx="1600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026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8026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M (fp32)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71900" y="1554480"/>
            <a:ext cx="16002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719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q,k,v_proj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7190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32, α = 64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63540" y="1554480"/>
            <a:ext cx="16002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635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6354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classifier head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55180" y="1554480"/>
            <a:ext cx="1600200" cy="64008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518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5518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score r(x,y)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51839"/>
              </p:ext>
            </p:extLst>
          </p:nvPr>
        </p:nvGraphicFramePr>
        <p:xfrm>
          <a:off x="274320" y="2331720"/>
          <a:ext cx="4206240" cy="23408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microsoft/deberta-v3-base (184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rank / 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32, α = 64 (q/k/v_proj)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 (DeBERTa fp16 → NaN)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Bradley-Terry pairwise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10⁻⁵  (cosine warmup)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×  2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 M / 184 M (≈ 1 %)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6634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Loss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63440" y="2633472"/>
            <a:ext cx="42062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26243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200" b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−E [ log σ ( r</a:t>
            </a:r>
            <a:r>
              <a:rPr lang="en-US" sz="1200" i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</a:t>
            </a:r>
            <a:r>
              <a:rPr lang="en-US" sz="1200" i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r</a:t>
            </a:r>
            <a:r>
              <a:rPr lang="en-US" sz="1200" i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</a:t>
            </a:r>
            <a:r>
              <a:rPr lang="en-US" sz="1200" i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) ]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663440" y="3218688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09160" y="377647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DeBERTa?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937760" y="373075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attention score full sequence better than causal LM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09160" y="414223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37760" y="4014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LoRA only?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937760" y="418091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&lt;1 % of params; full 184 M fits T4 in fp32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09160" y="450799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37760" y="4398969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fp32?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93776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disentangled attention produces NaN in fp16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45720"/>
            <a:ext cx="8933688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Fine-Tuning of TinyLlama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RLHF — 2 models in memory, no RL loop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8620" y="1554480"/>
            <a:ext cx="1600200" cy="640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π_θ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862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TinyLlama-1.1B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80260" y="1554480"/>
            <a:ext cx="1600200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026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π_ref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8026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71900" y="1554480"/>
            <a:ext cx="16002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719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(yc, yr)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7190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combined data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63540" y="1554480"/>
            <a:ext cx="1600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635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Loss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6354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55180" y="1554480"/>
            <a:ext cx="1600200" cy="64008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518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Update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55180" y="1856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q,k,v,o_proj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42927"/>
              </p:ext>
            </p:extLst>
          </p:nvPr>
        </p:nvGraphicFramePr>
        <p:xfrm>
          <a:off x="274320" y="2331720"/>
          <a:ext cx="4206240" cy="2468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TinyLlama-1.1B-Chat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NF4 + double-quant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rank / 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16, α = 32 (q,k,v,o)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 (TRL 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10⁻⁵ (cosine)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2 epochs  •  grad-accum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 AdamW 8-bit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~4.4 M / 1.1 B (≈ 0.4 %)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6634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Loss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63440" y="2633472"/>
            <a:ext cx="420624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2697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L_DPO = −log σ ( β·log[π_θ(y_c|x)/π_ref(y_c|x)] − β·log[π_θ(y_r|x)/π_ref(y_r|x)] 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66344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DPO instead of PPO?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09160" y="38862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19472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 in VRAM (vs. 4 for PPO)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709160" y="41788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19472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loss — no RL instability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709160" y="4471416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919472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as RM — no rollout needed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pipeline runs on free Kaggle T4×2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54480"/>
            <a:ext cx="859536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554480"/>
            <a:ext cx="816559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554480"/>
            <a:ext cx="8165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Pipeline Complete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148840"/>
            <a:ext cx="4206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148840"/>
            <a:ext cx="42062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Remaining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60604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HH-RLHF + LMSYS dataset (4 000 pairs)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297180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DeBERTa-v3-base reward model + LoRA training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33756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pairwise accuracy evaluation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70332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fine-tuning of TinyLlama-1.1B (4-bit + LoRA)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406908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evaluation on 50 held-out prompts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74320" y="4434840"/>
            <a:ext cx="4206240" cy="3200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434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cell for live jury comparison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2606040"/>
            <a:ext cx="4206240" cy="320040"/>
          </a:xfrm>
          <a:prstGeom prst="rect">
            <a:avLst/>
          </a:prstGeom>
          <a:solidFill>
            <a:srgbClr val="FEF2F2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SFT stage before DPO (full InstructGPT path)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63440" y="2971800"/>
            <a:ext cx="4206240" cy="320040"/>
          </a:xfrm>
          <a:prstGeom prst="rect">
            <a:avLst/>
          </a:prstGeom>
          <a:solidFill>
            <a:srgbClr val="FEF2F2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policy to 7 B (Mistral / LLaMA-3)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3337560"/>
            <a:ext cx="4206240" cy="320040"/>
          </a:xfrm>
          <a:prstGeom prst="rect">
            <a:avLst/>
          </a:prstGeom>
          <a:solidFill>
            <a:srgbClr val="FEF2F2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060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Length-controlled evaluation (de-bias for length)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0060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708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accuracy and DPO win-rates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0332" y="1554480"/>
            <a:ext cx="201168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70332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RM 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00884" y="1554480"/>
            <a:ext cx="201168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00884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500884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HH-RLHF Pairwise Acc.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31436" y="155448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1436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631436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Pairwise Acc.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1988" y="1554480"/>
            <a:ext cx="2011680" cy="10058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1988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761988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Win-Rate (n = 50)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Win-Rate by Source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3017520"/>
          <a:ext cx="42062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466344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09160" y="315468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92040" y="30632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gap is 3.1 pp — well within 10-pp generalization threshold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09160" y="352044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92040" y="34290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wins on both distributions, not just one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709160" y="388620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92040" y="3794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 improvement Δ = +0.37 across 50 prompts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709160" y="425196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92040" y="41605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RMs drop 9–14 pp on the other source (ablation)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09160" y="461772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92040" y="45262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in ~2.5–3 hr first run; &lt;30 s for cached re-runs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675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93852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Compute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on free Kaggle T4×2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248716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RM Overfitting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eval exposes single-dataset failures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303580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926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~0.4–1 % of model weights via LoRA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58444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Cross-Distribution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RM works on expert AND crowd labels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413308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Cached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4261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complete in &lt;30 s after first train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6344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3440" y="18288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LLM Alignment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54880" y="21579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 with company-specific feedback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0" y="18288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49440" y="21579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as a content-quality gate before user-facing replies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27432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Tuning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754880" y="3072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DPO recipe to Mistral, LLaMA, Qwen variants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858000" y="27432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Chatbots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49440" y="3072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student tutors with graded preferences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36576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Reproducibility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754880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open recipe for RLHF coursework / projects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858000" y="365760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944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Tooling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949440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as automatic A/B judge for prompt-engineering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for extending this work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554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1691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SFT Stage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1938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 chosen responses before DPO — completes the full InstructGPT pipeline and likely raises the alignment ceiling.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554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27448" y="1691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74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Dataset (UltraFeedback)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12080" y="1938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preference source aggregating GPT-4 / Claude / Alpaca votes to test generalization further.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2697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048" y="2834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2788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Policy to 7 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3081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Mistral-7B or LLaMA-3-8B and check whether per-source generalization holds at scale.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97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27448" y="2834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2744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12080" y="2788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12080" y="3081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RM-as-judge with GPT-4 pairwise evaluation or blind human raters to remove circularity.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3840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" y="3977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8680" y="3931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RM Ensemble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68680" y="4224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RM heads for HH and LMSYS, mix during DPO with learned weights — source-specific calibration.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617720" y="3840480"/>
            <a:ext cx="41605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27448" y="39776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27448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12080" y="3931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Layer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212080" y="4224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DPO helpfulness with an inference-time CAI self-critique pass to address harmlessness explicitly.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it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88696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73152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Modeling + DPO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438337"/>
              </p:ext>
            </p:extLst>
          </p:nvPr>
        </p:nvGraphicFramePr>
        <p:xfrm>
          <a:off x="274320" y="1301264"/>
          <a:ext cx="8595360" cy="3481751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6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Ouyang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language models to follow instructions with human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NeurIPS, vol. 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9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Rafailov, A. Sharma, E. Mitchell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Preference Optimization: Your LM is secretly a reward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NeurIPS (Best Paper)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J. Hu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LoRA: Low-rank adaptation of large language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ICLR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9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Dettmers, A. Pagnoni, A. Holtzman, L. Zettlemoyer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QLoRA: Efficient finetuning of quantized 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NeurIPS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Bai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a helpful and harmless assistant with 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arXiv:2204.05862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9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W.-L. Chiang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Arena: An open platform for evaluating LLMs by preference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arXiv:2403.04132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Bai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AI: Harmlessness from AI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arXiv:2212.08073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 — Transformer Reinforcement Learning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2147</Words>
  <Application>Microsoft Office PowerPoint</Application>
  <PresentationFormat>On-screen Show (16:9)</PresentationFormat>
  <Paragraphs>443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RLHF Mini-Project — Reward Modeling + DPO</dc:title>
  <dc:subject>PptxGenJS Presentation</dc:subject>
  <dc:creator>Pratik D. Avhad, Sahil Singh, Aviral Pandey</dc:creator>
  <cp:lastModifiedBy>sahil2604singh@gmail.com</cp:lastModifiedBy>
  <cp:revision>7</cp:revision>
  <dcterms:created xsi:type="dcterms:W3CDTF">2026-05-15T05:45:57Z</dcterms:created>
  <dcterms:modified xsi:type="dcterms:W3CDTF">2026-10-02T11:44:49Z</dcterms:modified>
</cp:coreProperties>
</file>